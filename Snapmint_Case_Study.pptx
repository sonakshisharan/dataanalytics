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Consumers (M)</c:v>
                </c:pt>
              </c:strCache>
            </c:strRef>
          </c:tx>
          <c:spPr>
            <a:solidFill>
              <a:srgbClr val="0C6E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A2E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6E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Credit-eligible</c:v>
                  </c:pt>
                  <c:pt idx="1">
                    <c:v>Hold a credit card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</c:v>
                </c:pt>
                <c:pt idx="1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A2E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OTP → credit check drop-off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93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AF3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OTP → credit check drop-off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</c:v>
                </c:pt>
                <c:pt idx="1">
                  <c:v>76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 2/3 first-time 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6E5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AF3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Tier 2/3 first-time users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Hidden-charge anxiety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6E5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AF3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Hidden-charge anxiety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48</c:v>
                </c:pt>
                <c:pt idx="1">
                  <c:v>52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Face a language barrier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6E5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AF3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Face a language barrier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37</c:v>
                </c:pt>
                <c:pt idx="1">
                  <c:v>63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Want repayment clarity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6E5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AF3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Want repayment clarity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Distrust doc-free approval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C6E5C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AF3F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Distrust doc-free approval</c:v>
                </c:pt>
                <c:pt idx="1">
                  <c:v/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41</c:v>
                </c:pt>
                <c:pt idx="1">
                  <c:v>59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1" Type="http://schemas.openxmlformats.org/officeDocument/2006/relationships/image" Target="../media/image-3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394960"/>
            <a:ext cx="1188720" cy="640080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3" name="Shape 1"/>
          <p:cNvSpPr/>
          <p:nvPr/>
        </p:nvSpPr>
        <p:spPr>
          <a:xfrm>
            <a:off x="1965960" y="5394960"/>
            <a:ext cx="1188720" cy="640080"/>
          </a:xfrm>
          <a:prstGeom prst="chevron">
            <a:avLst/>
          </a:prstGeom>
          <a:solidFill>
            <a:srgbClr val="0C6E5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34640" y="5394960"/>
            <a:ext cx="1188720" cy="640080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5" name="Shape 3"/>
          <p:cNvSpPr/>
          <p:nvPr/>
        </p:nvSpPr>
        <p:spPr>
          <a:xfrm>
            <a:off x="3703320" y="5394960"/>
            <a:ext cx="1188720" cy="640080"/>
          </a:xfrm>
          <a:prstGeom prst="chevron">
            <a:avLst/>
          </a:prstGeom>
          <a:solidFill>
            <a:srgbClr val="0C6E5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5394960"/>
            <a:ext cx="1188720" cy="640080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7" name="Shape 5"/>
          <p:cNvSpPr/>
          <p:nvPr/>
        </p:nvSpPr>
        <p:spPr>
          <a:xfrm>
            <a:off x="5440680" y="5394960"/>
            <a:ext cx="1188720" cy="640080"/>
          </a:xfrm>
          <a:prstGeom prst="chevron">
            <a:avLst/>
          </a:prstGeom>
          <a:solidFill>
            <a:srgbClr val="0C6E5C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309360" y="5394960"/>
            <a:ext cx="1188720" cy="640080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9" name="Shape 7"/>
          <p:cNvSpPr/>
          <p:nvPr/>
        </p:nvSpPr>
        <p:spPr>
          <a:xfrm>
            <a:off x="7178040" y="5394960"/>
            <a:ext cx="1188720" cy="640080"/>
          </a:xfrm>
          <a:prstGeom prst="chevron">
            <a:avLst/>
          </a:prstGeom>
          <a:solidFill>
            <a:srgbClr val="0C6E5C">
              <a:alpha val="6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6400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640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200000">
            <a:off x="10332720" y="68580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21945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&amp; Growth Strategy for First-Time Credit Users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40080" y="338328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7E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APM case study: winning trust, driving first EMI purchase, and building repeat usage in Tier 2/3 India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4343400"/>
            <a:ext cx="29260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7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7180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2628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56132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6132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company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143000"/>
            <a:ext cx="3703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15" name="Text 12"/>
          <p:cNvSpPr/>
          <p:nvPr/>
        </p:nvSpPr>
        <p:spPr>
          <a:xfrm>
            <a:off x="530352" y="1234440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SNAPMINT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30352" y="1444752"/>
            <a:ext cx="338328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300M credit-eligible consumers vs. just 35M active card users reveal a massive gap. Snapmint takes a product-first approach to reimagining credit — intuitive, accessible, frictionless EMI and Pay Later for fashion, electronics, and daily essentials, built for transparency and trust at scale.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530352" y="26151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2017 · India's leading zero-cost EMI provider · 10M+ consumers across 2,500+ cities, doubling YoY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30352" y="30449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Economic Times — Snapmint funding coverage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25196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160520" y="1417320"/>
          <a:ext cx="37490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Shape 17"/>
          <p:cNvSpPr/>
          <p:nvPr/>
        </p:nvSpPr>
        <p:spPr>
          <a:xfrm>
            <a:off x="8138160" y="1143000"/>
            <a:ext cx="3703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2" name="Text 18"/>
          <p:cNvSpPr/>
          <p:nvPr/>
        </p:nvSpPr>
        <p:spPr>
          <a:xfrm>
            <a:off x="8302752" y="1234440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8275320" y="1481328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LazyPay (PayU)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 (Capital Float)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ZestMoney (legacy)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Paytail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Bajaj Finserv EMI Card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65760" y="3520440"/>
            <a:ext cx="37033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5" name="Text 21"/>
          <p:cNvSpPr/>
          <p:nvPr/>
        </p:nvSpPr>
        <p:spPr>
          <a:xfrm>
            <a:off x="530352" y="3611880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530352" y="3858768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commission on EMI-enabled sales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EMI subsidized by partner merchants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EMI with consumer-borne interest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lending partnerships &amp; interest income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membership / insurance add-ons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2519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Revenue Drivers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4160520" y="3931920"/>
            <a:ext cx="3749040" cy="2377440"/>
          </a:xfrm>
          <a:prstGeom prst="roundRect">
            <a:avLst>
              <a:gd name="adj" fmla="val 2308"/>
            </a:avLst>
          </a:prstGeom>
          <a:solidFill>
            <a:srgbClr val="E4F5EF"/>
          </a:solidFill>
          <a:ln/>
        </p:spPr>
      </p:sp>
      <p:sp>
        <p:nvSpPr>
          <p:cNvPr id="29" name="Shape 25"/>
          <p:cNvSpPr/>
          <p:nvPr/>
        </p:nvSpPr>
        <p:spPr>
          <a:xfrm>
            <a:off x="4251960" y="4864608"/>
            <a:ext cx="1005840" cy="512064"/>
          </a:xfrm>
          <a:prstGeom prst="roundRect">
            <a:avLst>
              <a:gd name="adj" fmla="val 10714"/>
            </a:avLst>
          </a:prstGeom>
          <a:solidFill>
            <a:srgbClr val="0A2E27"/>
          </a:solidFill>
          <a:ln/>
        </p:spPr>
      </p:sp>
      <p:sp>
        <p:nvSpPr>
          <p:cNvPr id="30" name="Text 26"/>
          <p:cNvSpPr/>
          <p:nvPr/>
        </p:nvSpPr>
        <p:spPr>
          <a:xfrm>
            <a:off x="4251960" y="486460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257800" y="5120640"/>
            <a:ext cx="1417320" cy="-768096"/>
          </a:xfrm>
          <a:prstGeom prst="line">
            <a:avLst/>
          </a:prstGeom>
          <a:noFill/>
          <a:ln w="15875">
            <a:solidFill>
              <a:srgbClr val="0C6E5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675120" y="4096512"/>
            <a:ext cx="10972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C6E5C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675120" y="409651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5257800" y="5120640"/>
            <a:ext cx="1417320" cy="0"/>
          </a:xfrm>
          <a:prstGeom prst="line">
            <a:avLst/>
          </a:prstGeom>
          <a:noFill/>
          <a:ln w="15875">
            <a:solidFill>
              <a:srgbClr val="0C6E5C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675120" y="4864608"/>
            <a:ext cx="10972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C6E5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675120" y="486460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Lending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5257800" y="5120640"/>
            <a:ext cx="1417320" cy="768096"/>
          </a:xfrm>
          <a:prstGeom prst="line">
            <a:avLst/>
          </a:prstGeom>
          <a:noFill/>
          <a:ln w="15875">
            <a:solidFill>
              <a:srgbClr val="0C6E5C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675120" y="5632704"/>
            <a:ext cx="109728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0C6E5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675120" y="563270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8138160" y="3520440"/>
            <a:ext cx="37033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41" name="Text 37"/>
          <p:cNvSpPr/>
          <p:nvPr/>
        </p:nvSpPr>
        <p:spPr>
          <a:xfrm>
            <a:off x="8302752" y="3611880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COMPLIANCE FOCUS</a:t>
            </a:r>
            <a:endParaRPr lang="en-US" sz="1350" dirty="0"/>
          </a:p>
        </p:txBody>
      </p:sp>
      <p:sp>
        <p:nvSpPr>
          <p:cNvPr id="42" name="Text 38"/>
          <p:cNvSpPr/>
          <p:nvPr/>
        </p:nvSpPr>
        <p:spPr>
          <a:xfrm>
            <a:off x="8275320" y="3858768"/>
            <a:ext cx="3429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fee &amp; EMI schedule disclosure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Consent-based data collection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/ alternate-data based KYC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charges commitment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redressal mechanism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digital lending norms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7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7180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2628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56132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6132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Funnel Diagnosis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0" y="11704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first-purchase funnel analysis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657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SCOPE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65760" y="14630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Merchants, NBFC partners, users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Engineering, Risk &amp; Credit, Customer Support, Growth/Marketing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794760" y="1143000"/>
            <a:ext cx="37033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18" name="Text 15"/>
          <p:cNvSpPr/>
          <p:nvPr/>
        </p:nvSpPr>
        <p:spPr>
          <a:xfrm>
            <a:off x="3959352" y="1234440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RESEARCH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950208" y="1481328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 — mapped drop-off from checkout selection to first successful EMI purchase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&amp; Segment Analysis — compared Tier 1 vs Tier 2/3 city behavior and repeat-purchase patterns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 — spoke with first-time credit users about trust barriers and confusion points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38160" y="1143000"/>
            <a:ext cx="37033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1" name="Text 18"/>
          <p:cNvSpPr/>
          <p:nvPr/>
        </p:nvSpPr>
        <p:spPr>
          <a:xfrm>
            <a:off x="8302752" y="1234440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DROP-OFF DRIVERS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275320" y="1481328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Unfamiliarity with how EMI credit checks work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 in onboarding screens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 about hidden charges or credit score impact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 in document-free approval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clarity on repayment schedule upfront</a:t>
            </a:r>
            <a:endParaRPr lang="en-US" sz="9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local-language customer support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3429000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drop-off: nearly 1 in 4 users abandon between OTP verification and the credit check — often first-time users unsure what happens next.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SNAPSHOT (ILLUSTRATIVE)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02920" y="4206240"/>
          <a:ext cx="12801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Text 22"/>
          <p:cNvSpPr/>
          <p:nvPr/>
        </p:nvSpPr>
        <p:spPr>
          <a:xfrm>
            <a:off x="502920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365760" y="5504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→ credit check drop-off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2313432" y="4206240"/>
          <a:ext cx="12801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/>
          <p:nvPr/>
        </p:nvSpPr>
        <p:spPr>
          <a:xfrm>
            <a:off x="2313432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2176272" y="5504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2/3 first-time users</a:t>
            </a:r>
            <a:endParaRPr lang="en-US" sz="900" dirty="0"/>
          </a:p>
        </p:txBody>
      </p:sp>
      <p:graphicFrame>
        <p:nvGraphicFramePr>
          <p:cNvPr id="31" name="Chart 2" descr=""/>
          <p:cNvGraphicFramePr/>
          <p:nvPr/>
        </p:nvGraphicFramePr>
        <p:xfrm>
          <a:off x="4123944" y="4206240"/>
          <a:ext cx="12801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2" name="Text 26"/>
          <p:cNvSpPr/>
          <p:nvPr/>
        </p:nvSpPr>
        <p:spPr>
          <a:xfrm>
            <a:off x="4123944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3986784" y="5504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Hidden-charge anxiety</a:t>
            </a:r>
            <a:endParaRPr lang="en-US" sz="9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934456" y="4206240"/>
          <a:ext cx="12801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5" name="Text 28"/>
          <p:cNvSpPr/>
          <p:nvPr/>
        </p:nvSpPr>
        <p:spPr>
          <a:xfrm>
            <a:off x="5934456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5797296" y="5504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 language barrier</a:t>
            </a:r>
            <a:endParaRPr lang="en-US" sz="900" dirty="0"/>
          </a:p>
        </p:txBody>
      </p:sp>
      <p:graphicFrame>
        <p:nvGraphicFramePr>
          <p:cNvPr id="37" name="Chart 4" descr=""/>
          <p:cNvGraphicFramePr/>
          <p:nvPr/>
        </p:nvGraphicFramePr>
        <p:xfrm>
          <a:off x="7744968" y="4206240"/>
          <a:ext cx="12801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8" name="Text 30"/>
          <p:cNvSpPr/>
          <p:nvPr/>
        </p:nvSpPr>
        <p:spPr>
          <a:xfrm>
            <a:off x="7744968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2000" dirty="0"/>
          </a:p>
        </p:txBody>
      </p:sp>
      <p:sp>
        <p:nvSpPr>
          <p:cNvPr id="39" name="Text 31"/>
          <p:cNvSpPr/>
          <p:nvPr/>
        </p:nvSpPr>
        <p:spPr>
          <a:xfrm>
            <a:off x="7607808" y="5504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repayment clarity</a:t>
            </a:r>
            <a:endParaRPr lang="en-US" sz="900" dirty="0"/>
          </a:p>
        </p:txBody>
      </p:sp>
      <p:graphicFrame>
        <p:nvGraphicFramePr>
          <p:cNvPr id="40" name="Chart 5" descr=""/>
          <p:cNvGraphicFramePr/>
          <p:nvPr/>
        </p:nvGraphicFramePr>
        <p:xfrm>
          <a:off x="9555480" y="4206240"/>
          <a:ext cx="12801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41" name="Text 32"/>
          <p:cNvSpPr/>
          <p:nvPr/>
        </p:nvSpPr>
        <p:spPr>
          <a:xfrm>
            <a:off x="9555480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000" dirty="0"/>
          </a:p>
        </p:txBody>
      </p:sp>
      <p:sp>
        <p:nvSpPr>
          <p:cNvPr id="42" name="Text 33"/>
          <p:cNvSpPr/>
          <p:nvPr/>
        </p:nvSpPr>
        <p:spPr>
          <a:xfrm>
            <a:off x="9418320" y="5504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Distrust doc-free approval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7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7180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2628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56132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6132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Hypothesis &amp; Personas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097280"/>
            <a:ext cx="11475720" cy="868680"/>
          </a:xfrm>
          <a:prstGeom prst="roundRect">
            <a:avLst>
              <a:gd name="adj" fmla="val 6316"/>
            </a:avLst>
          </a:prstGeom>
          <a:solidFill>
            <a:srgbClr val="E4F5EF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1170432"/>
            <a:ext cx="11109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Hypothesis: </a:t>
            </a:r>
            <a:pPr indent="0" marL="0">
              <a:buNone/>
            </a:pPr>
            <a:r>
              <a:rPr lang="en-US" sz="11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credit users in Tier 2/3 cities abandon the EMI flow not because of eligibility, but because of trust and clarity gaps — they don't understand the credit check, fear hidden costs, and lack reassurance in their own language at the moment of decision.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6576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65760" y="2468880"/>
            <a:ext cx="3291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When…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travel to buy on EMI, often on short notice or after comparing options at a store.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But…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understand how the credit check works, worry about hidden charges, and can't always follow English-only screens.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me…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I'll pay and what happens to my credit, in a language I trust, before I commit.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can…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with confidence today, and come back for my next purchase without hesitation.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886200" y="2148840"/>
            <a:ext cx="3794760" cy="406908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19" name="Text 16"/>
          <p:cNvSpPr/>
          <p:nvPr/>
        </p:nvSpPr>
        <p:spPr>
          <a:xfrm>
            <a:off x="4050792" y="2240280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069080" y="2514600"/>
            <a:ext cx="566928" cy="566928"/>
          </a:xfrm>
          <a:prstGeom prst="oval">
            <a:avLst/>
          </a:prstGeom>
          <a:solidFill>
            <a:srgbClr val="D7ECE4"/>
          </a:solidFill>
          <a:ln w="12700">
            <a:solidFill>
              <a:srgbClr val="0C6E5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65176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754880" y="254203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Devi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· Retail store associate · Kanpur (Tier 2) · First-time credit user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069080" y="3246120"/>
            <a:ext cx="3429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never used a credit card or loan product before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 a 'credit check' will hurt her CIBIL score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Prefers reading in Hindi, not English app screens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know the exact EMI schedule before committing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863840" y="2148840"/>
            <a:ext cx="3977640" cy="406908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5" name="Text 21"/>
          <p:cNvSpPr/>
          <p:nvPr/>
        </p:nvSpPr>
        <p:spPr>
          <a:xfrm>
            <a:off x="8028432" y="2240280"/>
            <a:ext cx="3648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8046720" y="2514600"/>
            <a:ext cx="566928" cy="566928"/>
          </a:xfrm>
          <a:prstGeom prst="oval">
            <a:avLst/>
          </a:prstGeom>
          <a:solidFill>
            <a:srgbClr val="D7ECE4"/>
          </a:solidFill>
          <a:ln w="12700">
            <a:solidFill>
              <a:srgbClr val="0C6E5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651760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32520" y="25420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Verma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· Small shop owner · Indore (Tier 2) · Repeat EMI user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046720" y="3246120"/>
            <a:ext cx="3611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Snapmint once for a phone, hasn't returned since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he's eligible for a higher EMI limit now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repay faster with SMS/WhatsApp reminders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 visible reason to trust and reuse the app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7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7180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2628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56132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6132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234440"/>
            <a:ext cx="36576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15" name="Shape 12"/>
          <p:cNvSpPr/>
          <p:nvPr/>
        </p:nvSpPr>
        <p:spPr>
          <a:xfrm>
            <a:off x="594360" y="1463040"/>
            <a:ext cx="640080" cy="64008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436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Instant-Approval Flow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94360" y="288036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display of EMI schedule, total cost, and approval odds before the credit check — reducing anxiety at the highest-drop-off step.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251960" y="1234440"/>
            <a:ext cx="36576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0" name="Shape 16"/>
          <p:cNvSpPr/>
          <p:nvPr/>
        </p:nvSpPr>
        <p:spPr>
          <a:xfrm>
            <a:off x="4480560" y="1463040"/>
            <a:ext cx="640080" cy="64008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636776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8056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Trust-First Onboarding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480560" y="288036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screens, plain-language explainers, and a short video showing exactly what the credit check does (and doesn't) affect.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138160" y="1234440"/>
            <a:ext cx="36576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5" name="Shape 20"/>
          <p:cNvSpPr/>
          <p:nvPr/>
        </p:nvSpPr>
        <p:spPr>
          <a:xfrm>
            <a:off x="8366760" y="1463040"/>
            <a:ext cx="640080" cy="64008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1636776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36676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&amp; Re-Engagement Nudges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8366760" y="288036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WhatsApp/SMS reminders, credit-limit-increase alerts, and personalized 'you're eligible again' prompts to drive repeat EMI purchases.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65760" y="5029200"/>
            <a:ext cx="11475720" cy="594360"/>
          </a:xfrm>
          <a:prstGeom prst="roundRect">
            <a:avLst>
              <a:gd name="adj" fmla="val 9231"/>
            </a:avLst>
          </a:prstGeom>
          <a:solidFill>
            <a:srgbClr val="0A2E27"/>
          </a:solidFill>
          <a:ln/>
        </p:spPr>
      </p:sp>
      <p:sp>
        <p:nvSpPr>
          <p:cNvPr id="30" name="Text 24"/>
          <p:cNvSpPr/>
          <p:nvPr/>
        </p:nvSpPr>
        <p:spPr>
          <a:xfrm>
            <a:off x="548640" y="5029200"/>
            <a:ext cx="11109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convert first-time credit hesitation into confident, repeat EMI usage.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7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7180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2628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56132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6132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 (RICE)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75720" cy="1554480"/>
        </p:xfrm>
        <a:graphic>
          <a:graphicData uri="http://schemas.openxmlformats.org/drawingml/2006/table">
            <a:tbl>
              <a:tblPr/>
              <a:tblGrid>
                <a:gridCol w="4343400"/>
                <a:gridCol w="1371600"/>
                <a:gridCol w="1371600"/>
                <a:gridCol w="1554480"/>
                <a:gridCol w="1280160"/>
                <a:gridCol w="155448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lang="en-US" sz="11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Reach</a:t>
                      </a:r>
                      <a:endParaRPr lang="en-US" sz="11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1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1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Effort</a:t>
                      </a:r>
                      <a:endParaRPr lang="en-US" sz="11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RICE Score</a:t>
                      </a:r>
                      <a:endParaRPr lang="en-US" sz="115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Transparent Instant-Approval Flow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C6E5C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Vernacular Trust-First Onboarding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Repayment &amp; Re-Engagement Nudges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2241F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365760" y="3017520"/>
            <a:ext cx="54864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16" name="Text 12"/>
          <p:cNvSpPr/>
          <p:nvPr/>
        </p:nvSpPr>
        <p:spPr>
          <a:xfrm>
            <a:off x="530352" y="310896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RICE: TRANSPARENT INSTANT-APPROVAL FLOW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30352" y="338328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effort, high confidence, and directly targets the single largest drop-off point in the funnel — making it the clear first build.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80760" y="3017520"/>
            <a:ext cx="57607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19" name="Text 15"/>
          <p:cNvSpPr/>
          <p:nvPr/>
        </p:nvSpPr>
        <p:spPr>
          <a:xfrm>
            <a:off x="6245352" y="3108960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245352" y="3383280"/>
            <a:ext cx="5440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Transparent Instant-Approval Flow first — it's low effort and addresses the biggest funnel drop-off. Follow with Vernacular Onboarding for long-term reach across Tier 2/3 users, then layer in Re-Engagement Nudges to convert first-time buyers into repeat users.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7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7180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2628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56132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6132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Deep Dive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0" y="117043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B66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Approval Flow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6576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1463040"/>
            <a:ext cx="272491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17" name="Shape 14"/>
          <p:cNvSpPr/>
          <p:nvPr/>
        </p:nvSpPr>
        <p:spPr>
          <a:xfrm>
            <a:off x="548640" y="1645920"/>
            <a:ext cx="502920" cy="50292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176022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" y="22128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 Preview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30352" y="2670048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credit check, users see the exact EMI schedule, total repayable amount, and zero hidden-fee confirmation.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182112" y="1463040"/>
            <a:ext cx="272491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2" name="Shape 18"/>
          <p:cNvSpPr/>
          <p:nvPr/>
        </p:nvSpPr>
        <p:spPr>
          <a:xfrm>
            <a:off x="3364992" y="1645920"/>
            <a:ext cx="502920" cy="50292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7580" y="176022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346704" y="22128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Explainer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346704" y="2670048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visual explanation of what the alternate-data check looks at and confirms it won't affect their CIBIL score.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998464" y="1463040"/>
            <a:ext cx="272491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7" name="Shape 22"/>
          <p:cNvSpPr/>
          <p:nvPr/>
        </p:nvSpPr>
        <p:spPr>
          <a:xfrm>
            <a:off x="6181344" y="1645920"/>
            <a:ext cx="502920" cy="50292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176022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163056" y="22128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Likelihood Indicator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163056" y="2670048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'high/medium' approval indicator before submission, reducing fear of rejection.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814816" y="1463040"/>
            <a:ext cx="2724912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32" name="Shape 26"/>
          <p:cNvSpPr/>
          <p:nvPr/>
        </p:nvSpPr>
        <p:spPr>
          <a:xfrm>
            <a:off x="8997696" y="1645920"/>
            <a:ext cx="502920" cy="50292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0284" y="176022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979408" y="22128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Confirm &amp; Pay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8979408" y="2670048"/>
            <a:ext cx="239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approved, users confirm with a single tap — no extra documents, no re-entry of details.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365760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640080" y="4343400"/>
            <a:ext cx="457200" cy="45720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38" name="Text 3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137160" y="48920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'Buy on EMI' at merchant checkout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1097280" y="4572000"/>
            <a:ext cx="2148840" cy="0"/>
          </a:xfrm>
          <a:prstGeom prst="line">
            <a:avLst/>
          </a:prstGeom>
          <a:noFill/>
          <a:ln w="19050">
            <a:solidFill>
              <a:srgbClr val="0C6E5C"/>
            </a:solidFill>
            <a:prstDash val="dash"/>
          </a:ln>
        </p:spPr>
      </p:sp>
      <p:sp>
        <p:nvSpPr>
          <p:cNvPr id="41" name="Shape 34"/>
          <p:cNvSpPr/>
          <p:nvPr/>
        </p:nvSpPr>
        <p:spPr>
          <a:xfrm>
            <a:off x="3246120" y="4343400"/>
            <a:ext cx="457200" cy="45720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42" name="Text 35"/>
          <p:cNvSpPr/>
          <p:nvPr/>
        </p:nvSpPr>
        <p:spPr>
          <a:xfrm>
            <a:off x="32461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2743200" y="48920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upfront EMI schedule &amp; total cost preview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3703320" y="4572000"/>
            <a:ext cx="2148840" cy="0"/>
          </a:xfrm>
          <a:prstGeom prst="line">
            <a:avLst/>
          </a:prstGeom>
          <a:noFill/>
          <a:ln w="19050">
            <a:solidFill>
              <a:srgbClr val="0C6E5C"/>
            </a:solidFill>
            <a:prstDash val="dash"/>
          </a:ln>
        </p:spPr>
      </p:sp>
      <p:sp>
        <p:nvSpPr>
          <p:cNvPr id="45" name="Shape 38"/>
          <p:cNvSpPr/>
          <p:nvPr/>
        </p:nvSpPr>
        <p:spPr>
          <a:xfrm>
            <a:off x="5852160" y="4343400"/>
            <a:ext cx="457200" cy="45720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46" name="Text 39"/>
          <p:cNvSpPr/>
          <p:nvPr/>
        </p:nvSpPr>
        <p:spPr>
          <a:xfrm>
            <a:off x="58521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7" name="Text 40"/>
          <p:cNvSpPr/>
          <p:nvPr/>
        </p:nvSpPr>
        <p:spPr>
          <a:xfrm>
            <a:off x="5349240" y="48920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Completes OTP + plain-language credit check explainer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6309360" y="4572000"/>
            <a:ext cx="2148840" cy="0"/>
          </a:xfrm>
          <a:prstGeom prst="line">
            <a:avLst/>
          </a:prstGeom>
          <a:noFill/>
          <a:ln w="19050">
            <a:solidFill>
              <a:srgbClr val="0C6E5C"/>
            </a:solidFill>
            <a:prstDash val="dash"/>
          </a:ln>
        </p:spPr>
      </p:sp>
      <p:sp>
        <p:nvSpPr>
          <p:cNvPr id="49" name="Shape 42"/>
          <p:cNvSpPr/>
          <p:nvPr/>
        </p:nvSpPr>
        <p:spPr>
          <a:xfrm>
            <a:off x="8458200" y="4343400"/>
            <a:ext cx="457200" cy="457200"/>
          </a:xfrm>
          <a:prstGeom prst="oval">
            <a:avLst/>
          </a:prstGeom>
          <a:solidFill>
            <a:srgbClr val="F2A93B"/>
          </a:solidFill>
          <a:ln/>
        </p:spPr>
      </p:sp>
      <p:sp>
        <p:nvSpPr>
          <p:cNvPr id="50" name="Text 43"/>
          <p:cNvSpPr/>
          <p:nvPr/>
        </p:nvSpPr>
        <p:spPr>
          <a:xfrm>
            <a:off x="845820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1" name="Text 44"/>
          <p:cNvSpPr/>
          <p:nvPr/>
        </p:nvSpPr>
        <p:spPr>
          <a:xfrm>
            <a:off x="7955280" y="48920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indicator shown → one-tap confirm &amp; pay</a:t>
            </a:r>
            <a:endParaRPr lang="en-US" sz="950" dirty="0"/>
          </a:p>
        </p:txBody>
      </p:sp>
      <p:sp>
        <p:nvSpPr>
          <p:cNvPr id="52" name="Text 45"/>
          <p:cNvSpPr/>
          <p:nvPr/>
        </p:nvSpPr>
        <p:spPr>
          <a:xfrm>
            <a:off x="365760" y="6172200"/>
            <a:ext cx="11475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effect: +10–15 pts on OTP-to-approval completion (illustrative target)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7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7180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2628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56132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6132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7406640" cy="420624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283464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Goal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E27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6E5C"/>
                          </a:solidFill>
                        </a:rPr>
                        <a:t>Awareness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# users starting the EMI checkout flow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Tracks top-of-funnel reach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6E5C"/>
                          </a:solidFill>
                        </a:rPr>
                        <a:t>Activation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% completing OTP → credit check step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Confirms trust-flow reduces anxiety-driven drop-off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6E5C"/>
                          </a:solidFill>
                        </a:rPr>
                        <a:t>Engagement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% of approved users completing first purchase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Measures conversion once approved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6E5C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GMV from first-time credit users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Ties activation improvements to business impact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6E5C"/>
                          </a:solidFill>
                        </a:rPr>
                        <a:t>Retention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60-day repeat EMI purchase 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Core success measure for this initiative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C6E5C"/>
                          </a:solidFill>
                        </a:rPr>
                        <a:t>Referral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% of new users from existing-user referrals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2241F"/>
                          </a:solidFill>
                        </a:rPr>
                        <a:t>Signals trust strong enough to recommend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E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8001000" y="1143000"/>
            <a:ext cx="38404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29844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0" y="1298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83880" y="178308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credit users completing a 2nd EMI purchase within 60 days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001000" y="3063240"/>
            <a:ext cx="3840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0" name="Text 15"/>
          <p:cNvSpPr/>
          <p:nvPr/>
        </p:nvSpPr>
        <p:spPr>
          <a:xfrm>
            <a:off x="8165592" y="315468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165592" y="3401568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/ delinquency rate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Approval-to-fraud ratio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complaint volume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E27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97180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2628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46304"/>
            <a:ext cx="1051560" cy="576072"/>
          </a:xfrm>
          <a:prstGeom prst="chevron">
            <a:avLst/>
          </a:prstGeom>
          <a:solidFill>
            <a:srgbClr val="0C6E5C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80760" y="146304"/>
            <a:ext cx="1051560" cy="576072"/>
          </a:xfrm>
          <a:prstGeom prst="chevron">
            <a:avLst/>
          </a:prstGeom>
          <a:solidFill>
            <a:srgbClr val="0C6E5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56032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561320" y="2011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61320" y="2011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SNAPMINT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595360" y="932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1280160"/>
            <a:ext cx="2724912" cy="329184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15" name="Shape 12"/>
          <p:cNvSpPr/>
          <p:nvPr/>
        </p:nvSpPr>
        <p:spPr>
          <a:xfrm>
            <a:off x="548640" y="1508760"/>
            <a:ext cx="548640" cy="54864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" y="1613916"/>
            <a:ext cx="338328" cy="3383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0352" y="214884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Education Hub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30352" y="2743200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micro-lessons that help first-time users understand credit scores, building long-term financial confidence.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182112" y="1280160"/>
            <a:ext cx="2724912" cy="329184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0" name="Shape 16"/>
          <p:cNvSpPr/>
          <p:nvPr/>
        </p:nvSpPr>
        <p:spPr>
          <a:xfrm>
            <a:off x="3364992" y="1508760"/>
            <a:ext cx="548640" cy="54864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436" y="1613916"/>
            <a:ext cx="338328" cy="3383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346704" y="214884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Checkout Widget 2.0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3346704" y="2743200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PDP/cart integration to reduce friction at the point of purchase decision, lifting conversion further.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998464" y="1280160"/>
            <a:ext cx="2724912" cy="329184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25" name="Shape 20"/>
          <p:cNvSpPr/>
          <p:nvPr/>
        </p:nvSpPr>
        <p:spPr>
          <a:xfrm>
            <a:off x="6181344" y="1508760"/>
            <a:ext cx="548640" cy="54864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1613916"/>
            <a:ext cx="338328" cy="3383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163056" y="214884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Credit Limits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163056" y="2743200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limit increases for users with strong repayment history, rewarding trust with more purchasing power.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8814816" y="1280160"/>
            <a:ext cx="2724912" cy="3291840"/>
          </a:xfrm>
          <a:prstGeom prst="roundRect">
            <a:avLst>
              <a:gd name="adj" fmla="val 2013"/>
            </a:avLst>
          </a:prstGeom>
          <a:solidFill>
            <a:srgbClr val="FFFFFF"/>
          </a:solidFill>
          <a:ln w="15875">
            <a:solidFill>
              <a:srgbClr val="0C6E5C"/>
            </a:solidFill>
            <a:prstDash val="sysDot"/>
          </a:ln>
        </p:spPr>
      </p:sp>
      <p:sp>
        <p:nvSpPr>
          <p:cNvPr id="30" name="Shape 24"/>
          <p:cNvSpPr/>
          <p:nvPr/>
        </p:nvSpPr>
        <p:spPr>
          <a:xfrm>
            <a:off x="8997696" y="1508760"/>
            <a:ext cx="548640" cy="548640"/>
          </a:xfrm>
          <a:prstGeom prst="oval">
            <a:avLst/>
          </a:prstGeom>
          <a:solidFill>
            <a:srgbClr val="E4F5E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0" y="1613916"/>
            <a:ext cx="338328" cy="33832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979408" y="2148840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2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Voice Support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8979408" y="2743200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2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voice assistant for onboarding questions, extending reach to lower digital-literacy users.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65760" y="4937760"/>
            <a:ext cx="11475720" cy="685800"/>
          </a:xfrm>
          <a:prstGeom prst="roundRect">
            <a:avLst>
              <a:gd name="adj" fmla="val 8000"/>
            </a:avLst>
          </a:prstGeom>
          <a:solidFill>
            <a:srgbClr val="0A2E27"/>
          </a:solidFill>
          <a:ln/>
        </p:spPr>
      </p:sp>
      <p:sp>
        <p:nvSpPr>
          <p:cNvPr id="35" name="Text 28"/>
          <p:cNvSpPr/>
          <p:nvPr/>
        </p:nvSpPr>
        <p:spPr>
          <a:xfrm>
            <a:off x="548640" y="493776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trajectory: each initiative compounds toward converting first-time credit users into confident, repeat EMI customers.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Snapmint APM Case Study</dc:title>
  <dc:subject>PptxGenJS Presentation</dc:subject>
  <dc:creator>Sonakshi</dc:creator>
  <cp:lastModifiedBy>Sonakshi</cp:lastModifiedBy>
  <cp:revision>1</cp:revision>
  <dcterms:created xsi:type="dcterms:W3CDTF">2026-07-04T10:57:49Z</dcterms:created>
  <dcterms:modified xsi:type="dcterms:W3CDTF">2026-07-04T10:57:49Z</dcterms:modified>
</cp:coreProperties>
</file>